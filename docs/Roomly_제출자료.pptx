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심사위원이 링크를 바로 누를 수 있다는 점을 먼저 말한다. 발표 자료가 아니라 돌아가는 서비스라는 것이 이 덱 전체의 전제.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문제는 조사로 알아낸 것이 아니라 현장에서 직접 겪은 것이다. Real Business 원칙에 정면으로 대응하는 슬라이드.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덱의 논지다. 에이전트를 붙인 이유가 유행이 아니라 문제의 성질에서 나왔다는 것을 보인다.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왼쪽에서 오른쪽으로 읽는다. 노란 점선이 검증 되먹임이며, 이 고리가 있어야 기능이 아니라 에이전트가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에이전트가 넘겨받은 것은 새로운 기능이 아니라 관리자의 판단이다. 마지막 행은 사람도 하지 않던 일 — 일손이 모자랄 때 먼저 알려주는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심사 기준의 '결과 검증'에 정면 대응하는 슬라이드. 02가 다음 장에서 자세히 나온다.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고리가 'AI 기능'과 '에이전트'를 가르는 지점이다. 검증 실패를 사람이 읽는 문장으로 쓰는 이유는 그 문장을 모델이 읽기 때문이다.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숫자. 비교 대상이 무엇인지, 그리고 시뮬레이션이라는 점을 반드시 같이 말한다. 실제 운영 결과인 것처럼 말하면 다음 질문에서 무너진다.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앞 장의 123분이 어디서 나왔는지 보여주는 근거 슬라이드. 색만으로 말하지 않고 숫자와 배수를 함께 적었다.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관리자 대시보드의 에이전트 패널을 그대로 옮긴 것이다. 심사위원이 데모에서 직접 같은 화면을 볼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에이전트만 만든 것이 아니라, 에이전트가 올라탈 제품이 이미 돌아가고 있다. 오른쪽 네 줄이 이번에 더한 전부다.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마무리. 자료를 읽는 것보다 직접 눌러보게 만드는 것이 목표다. Show and Prove.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50" kern="0" dirty="0">
                <a:solidFill>
                  <a:srgbClr val="818CF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SK하이닉스 AI 해커톤 2026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2273300"/>
            <a:ext cx="10883392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800"/>
              </a:lnSpc>
              <a:buNone/>
            </a:pPr>
            <a:r>
              <a:rPr lang="en-US" sz="6800" b="1" spc="-150" kern="0" dirty="0">
                <a:solidFill>
                  <a:srgbClr val="F2F3F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Roomly</a:t>
            </a:r>
            <a:endParaRPr lang="en-US" sz="6800" dirty="0"/>
          </a:p>
        </p:txBody>
      </p:sp>
      <p:sp>
        <p:nvSpPr>
          <p:cNvPr id="4" name="Text 2"/>
          <p:cNvSpPr/>
          <p:nvPr/>
        </p:nvSpPr>
        <p:spPr>
          <a:xfrm>
            <a:off x="812800" y="3365500"/>
            <a:ext cx="1088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스스로 판단하고 실행하는</a:t>
            </a:r>
            <a:endParaRPr lang="en-US" sz="2800" dirty="0"/>
          </a:p>
          <a:p>
            <a:pPr algn="l" indent="0" marL="0">
              <a:lnSpc>
                <a:spcPts val="3500"/>
              </a:lnSpc>
              <a:buNone/>
            </a:pPr>
            <a:r>
              <a:rPr lang="en-US" sz="2800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호텔 하우스키핑 에이전트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12800" y="5461088"/>
            <a:ext cx="662605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제출자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5725231"/>
            <a:ext cx="662605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2F3F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김환진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074591" y="5514358"/>
            <a:ext cx="2373747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동작하는 서비스 · 클릭 한 번으로 입장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50100" y="5778500"/>
            <a:ext cx="435597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E6AD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roomly-plum-eight.vercel.app/api/demo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150" kern="0" dirty="0">
                <a:solidFill>
                  <a:srgbClr val="818CF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문제 정의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348670"/>
            <a:ext cx="10883392" cy="1061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b="1" dirty="0">
                <a:solidFill>
                  <a:srgbClr val="F2F3F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5성급 호텔도 객실 배정을</a:t>
            </a:r>
            <a:endParaRPr lang="en-US" sz="3400" dirty="0"/>
          </a:p>
          <a:p>
            <a:pPr algn="l" indent="0" marL="0">
              <a:lnSpc>
                <a:spcPts val="4080"/>
              </a:lnSpc>
              <a:buNone/>
            </a:pPr>
            <a:r>
              <a:rPr lang="en-US" sz="3400" b="1" dirty="0">
                <a:solidFill>
                  <a:srgbClr val="F2F3F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텔레그램 단톡방으로 한다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5975" y="2692929"/>
            <a:ext cx="3397250" cy="1607256"/>
          </a:xfrm>
          <a:prstGeom prst="roundRect">
            <a:avLst>
              <a:gd name="adj" fmla="val 6124"/>
            </a:avLst>
          </a:prstGeom>
          <a:solidFill>
            <a:srgbClr val="17171B"/>
          </a:solidFill>
          <a:ln w="6350">
            <a:solidFill>
              <a:srgbClr val="2A2D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044" y="2923999"/>
            <a:ext cx="3023164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2F3F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관리자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47044" y="3271926"/>
            <a:ext cx="3023164" cy="82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93"/>
              </a:lnSpc>
              <a:buNone/>
            </a:pPr>
            <a:r>
              <a:rPr lang="en-US" sz="1350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엑셀로 정리한 뒤 단톡방에 올린다. 상황이 바뀌면 다시 올린다. 어느 것이 최신인지 아무도 모른다.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97375" y="2692929"/>
            <a:ext cx="3397250" cy="1607256"/>
          </a:xfrm>
          <a:prstGeom prst="roundRect">
            <a:avLst>
              <a:gd name="adj" fmla="val 6124"/>
            </a:avLst>
          </a:prstGeom>
          <a:solidFill>
            <a:srgbClr val="17171B"/>
          </a:solidFill>
          <a:ln w="6350">
            <a:solidFill>
              <a:srgbClr val="2A2D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28445" y="2923999"/>
            <a:ext cx="3023164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2F3F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직원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628445" y="3271926"/>
            <a:ext cx="3023164" cy="55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93"/>
              </a:lnSpc>
              <a:buNone/>
            </a:pPr>
            <a:r>
              <a:rPr lang="en-US" sz="1350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“지금 어느 방 치워야 해?” 대화를 스크롤해 올라가며 자기 이름을 찾는다.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978775" y="2692929"/>
            <a:ext cx="3397250" cy="1607256"/>
          </a:xfrm>
          <a:prstGeom prst="roundRect">
            <a:avLst>
              <a:gd name="adj" fmla="val 6124"/>
            </a:avLst>
          </a:prstGeom>
          <a:solidFill>
            <a:srgbClr val="17171B"/>
          </a:solidFill>
          <a:ln w="6350">
            <a:solidFill>
              <a:srgbClr val="2A2D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09845" y="2923999"/>
            <a:ext cx="3023164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8717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결과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09845" y="3271926"/>
            <a:ext cx="3023164" cy="55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93"/>
              </a:lnSpc>
              <a:buNone/>
            </a:pPr>
            <a:r>
              <a:rPr lang="en-US" sz="1350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체크인이 임박한 객실이 누락된다. 손님이 프런트에서 기다린다.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12800" y="6238258"/>
            <a:ext cx="142258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5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84650" y="6238258"/>
            <a:ext cx="71945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하우스키핑팀에서 직접 겪은 문제다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995885" y="381000"/>
            <a:ext cx="3484815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roomly-plum-eight.vercel.app/api/demo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150" kern="0" dirty="0">
                <a:solidFill>
                  <a:srgbClr val="818CF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에이전트가 필요한 이유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323270"/>
            <a:ext cx="10883392" cy="543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b="1" dirty="0">
                <a:solidFill>
                  <a:srgbClr val="F2F3F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배정의 전제는 하루 종일 바뀐다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5975" y="2123987"/>
            <a:ext cx="2540000" cy="902758"/>
          </a:xfrm>
          <a:prstGeom prst="roundRect">
            <a:avLst>
              <a:gd name="adj" fmla="val 9496"/>
            </a:avLst>
          </a:prstGeom>
          <a:solidFill>
            <a:srgbClr val="0E0F12"/>
          </a:solidFill>
          <a:ln w="6350">
            <a:solidFill>
              <a:srgbClr val="2A2D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244" y="2304256"/>
            <a:ext cx="2244845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BBF2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체크아웃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96244" y="2598826"/>
            <a:ext cx="224484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예정보다 늦게 나간다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89325" y="2123987"/>
            <a:ext cx="2540000" cy="902758"/>
          </a:xfrm>
          <a:prstGeom prst="roundRect">
            <a:avLst>
              <a:gd name="adj" fmla="val 9496"/>
            </a:avLst>
          </a:prstGeom>
          <a:solidFill>
            <a:srgbClr val="0E0F12"/>
          </a:solidFill>
          <a:ln w="6350">
            <a:solidFill>
              <a:srgbClr val="2A2D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69595" y="2304256"/>
            <a:ext cx="2244845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BBF2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직원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69595" y="2598826"/>
            <a:ext cx="224484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지각하거나 결근한다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2675" y="2123987"/>
            <a:ext cx="2540000" cy="902758"/>
          </a:xfrm>
          <a:prstGeom prst="roundRect">
            <a:avLst>
              <a:gd name="adj" fmla="val 9496"/>
            </a:avLst>
          </a:prstGeom>
          <a:solidFill>
            <a:srgbClr val="0E0F12"/>
          </a:solidFill>
          <a:ln w="6350">
            <a:solidFill>
              <a:srgbClr val="2A2D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42945" y="2304256"/>
            <a:ext cx="2244845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BBF2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청소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42945" y="2598826"/>
            <a:ext cx="224484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예상보다 오래 걸린다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36025" y="2123987"/>
            <a:ext cx="2540000" cy="902758"/>
          </a:xfrm>
          <a:prstGeom prst="roundRect">
            <a:avLst>
              <a:gd name="adj" fmla="val 9496"/>
            </a:avLst>
          </a:prstGeom>
          <a:solidFill>
            <a:srgbClr val="0E0F12"/>
          </a:solidFill>
          <a:ln w="6350">
            <a:solidFill>
              <a:srgbClr val="2A2D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16295" y="2304256"/>
            <a:ext cx="2244845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BBF2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체크인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016295" y="2598826"/>
            <a:ext cx="224484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갑자기 앞당겨진다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5500" y="3309320"/>
            <a:ext cx="0" cy="1412169"/>
          </a:xfrm>
          <a:prstGeom prst="line">
            <a:avLst/>
          </a:prstGeom>
          <a:noFill/>
          <a:ln w="25400">
            <a:solidFill>
              <a:srgbClr val="5E6A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8578" y="3360120"/>
            <a:ext cx="6961999" cy="700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F2F3F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관리자가 실제로 하는 일은 계속 관찰하고, 다시 판단하고, 개입하는 것이다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038578" y="4137290"/>
            <a:ext cx="696199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프롬프트를 한 번 쏘고 추천 목록을 받는 방식은 30분 뒤면 무의미해진다. 그래서 루프로 만들었다.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58"/>
            <a:ext cx="142258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5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995885" y="381000"/>
            <a:ext cx="3484815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roomly-plum-eight.vercel.app/api/demo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150" kern="0" dirty="0">
                <a:solidFill>
                  <a:srgbClr val="818CF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아키텍처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170870"/>
            <a:ext cx="1088339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2F3F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에이전트는 5분마다 스스로 판단한다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9175" y="2543175"/>
            <a:ext cx="2152650" cy="1327150"/>
          </a:xfrm>
          <a:prstGeom prst="roundRect">
            <a:avLst>
              <a:gd name="adj" fmla="val 7416"/>
            </a:avLst>
          </a:prstGeom>
          <a:solidFill>
            <a:srgbClr val="17171B"/>
          </a:solidFill>
          <a:ln w="6350">
            <a:solidFill>
              <a:srgbClr val="2A2D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24844" y="2748845"/>
            <a:ext cx="17935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관찰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24844" y="3091745"/>
            <a:ext cx="1793550" cy="504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F2F3F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현황판과 직원 실적을 모델이 도구로 직접 조회한다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86175" y="2543175"/>
            <a:ext cx="2152650" cy="1327150"/>
          </a:xfrm>
          <a:prstGeom prst="roundRect">
            <a:avLst>
              <a:gd name="adj" fmla="val 7416"/>
            </a:avLst>
          </a:prstGeom>
          <a:solidFill>
            <a:srgbClr val="17171B"/>
          </a:solidFill>
          <a:ln w="6350">
            <a:solidFill>
              <a:srgbClr val="2A2D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91845" y="2748845"/>
            <a:ext cx="17935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계획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91845" y="3091745"/>
            <a:ext cx="1793550" cy="504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F2F3F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긴급도·숙련도·층·부하를 놓고 배정안을 만든다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6350" y="2546350"/>
            <a:ext cx="2146300" cy="1320800"/>
          </a:xfrm>
          <a:prstGeom prst="roundRect">
            <a:avLst>
              <a:gd name="adj" fmla="val 7212"/>
            </a:avLst>
          </a:prstGeom>
          <a:solidFill>
            <a:srgbClr val="17171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4489" y="2754489"/>
            <a:ext cx="178192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BBF2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검증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64489" y="3097389"/>
            <a:ext cx="1781923" cy="504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F2F3F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규칙 위반이면 실행하지 않고 사유를 돌려준다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20175" y="2543175"/>
            <a:ext cx="2152650" cy="1327150"/>
          </a:xfrm>
          <a:prstGeom prst="roundRect">
            <a:avLst>
              <a:gd name="adj" fmla="val 7416"/>
            </a:avLst>
          </a:prstGeom>
          <a:solidFill>
            <a:srgbClr val="17171B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25845" y="2748845"/>
            <a:ext cx="17935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4D39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225845" y="3091745"/>
            <a:ext cx="1793550" cy="504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F2F3F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실제 배정하고 직원에게 푸시를 보낸다</a:t>
            </a:r>
            <a:endParaRPr lang="en-US" sz="1300" dirty="0"/>
          </a:p>
        </p:txBody>
      </p:sp>
      <p:pic>
        <p:nvPicPr>
          <p:cNvPr id="16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124200" y="3155950"/>
            <a:ext cx="609600" cy="101600"/>
          </a:xfrm>
          <a:prstGeom prst="rect">
            <a:avLst/>
          </a:prstGeom>
        </p:spPr>
      </p:pic>
      <p:pic>
        <p:nvPicPr>
          <p:cNvPr id="17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91200" y="3155950"/>
            <a:ext cx="609600" cy="101600"/>
          </a:xfrm>
          <a:prstGeom prst="rect">
            <a:avLst/>
          </a:prstGeom>
        </p:spPr>
      </p:pic>
      <p:pic>
        <p:nvPicPr>
          <p:cNvPr id="18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58200" y="3155950"/>
            <a:ext cx="609600" cy="101600"/>
          </a:xfrm>
          <a:prstGeom prst="rect">
            <a:avLst/>
          </a:prstGeom>
        </p:spPr>
      </p:pic>
      <p:pic>
        <p:nvPicPr>
          <p:cNvPr id="19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711700" y="3822700"/>
            <a:ext cx="2768600" cy="101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95470" y="4483100"/>
            <a:ext cx="3401060" cy="48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BBF2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거부되면 사유를 읽고 같은 루프 안에서 다시 계획한다 (최대 3회)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812800" y="5270500"/>
            <a:ext cx="68021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모델이 스스로 현황판을 읽고, 스스로 배정을 실행한다.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812800" y="6238258"/>
            <a:ext cx="142258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5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995885" y="381000"/>
            <a:ext cx="3484815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roomly-plum-eight.vercel.app/api/demo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150" kern="0" dirty="0">
                <a:solidFill>
                  <a:srgbClr val="818CF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에이전트가 하는 일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97871"/>
            <a:ext cx="1088339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2F3F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관리자가 하던 판단을 그대로 넘겨받는다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2009071"/>
            <a:ext cx="10566400" cy="2467857"/>
          </a:xfrm>
          <a:custGeom>
            <a:avLst/>
            <a:gdLst/>
            <a:ahLst/>
            <a:cxnLst/>
            <a:rect l="l" t="t" r="r" b="b"/>
            <a:pathLst>
              <a:path w="10566400" h="2467857">
                <a:moveTo>
                  <a:pt x="10490200" y="0"/>
                </a:moveTo>
                <a:lnTo>
                  <a:pt x="10490200" y="0"/>
                </a:lnTo>
                <a:arcTo hR="76200" wR="76200" stAng="16200000" swAng="5400000"/>
                <a:lnTo>
                  <a:pt x="10566400" y="2391657"/>
                </a:lnTo>
                <a:arcTo hR="76200" wR="76200" stAng="0" swAng="5400000"/>
                <a:lnTo>
                  <a:pt x="76200" y="2467857"/>
                </a:lnTo>
                <a:arcTo hR="76200" wR="76200" stAng="5400000" swAng="5400000"/>
                <a:lnTo>
                  <a:pt x="0" y="2391657"/>
                </a:lnTo>
                <a:arcTo hR="69850" wR="76200" stAng="10800000" swAng="-5400000"/>
                <a:lnTo>
                  <a:pt x="10490200" y="2461507"/>
                </a:lnTo>
                <a:arcTo hR="69850" wR="69850" stAng="5400000" swAng="-5400000"/>
                <a:lnTo>
                  <a:pt x="10560050" y="76200"/>
                </a:lnTo>
                <a:arcTo hR="76200" wR="69850" stAng="0" swAng="-5400000"/>
                <a:close/>
              </a:path>
            </a:pathLst>
          </a:custGeom>
          <a:solidFill>
            <a:srgbClr val="2A2D33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2009071"/>
            <a:ext cx="10566400" cy="2467857"/>
          </a:xfrm>
          <a:custGeom>
            <a:avLst/>
            <a:gdLst/>
            <a:ahLst/>
            <a:cxnLst/>
            <a:rect l="l" t="t" r="r" b="b"/>
            <a:pathLst>
              <a:path w="10566400" h="2467857">
                <a:moveTo>
                  <a:pt x="76200" y="2467857"/>
                </a:moveTo>
                <a:lnTo>
                  <a:pt x="76200" y="2467857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10490200" y="0"/>
                </a:lnTo>
                <a:arcTo hR="76200" wR="76200" stAng="16200000" swAng="5400000"/>
                <a:lnTo>
                  <a:pt x="10566400" y="76200"/>
                </a:lnTo>
                <a:arcTo hR="64911" wR="76200" stAng="0" swAng="-5400000"/>
                <a:lnTo>
                  <a:pt x="76200" y="11289"/>
                </a:lnTo>
                <a:arcTo hR="64911" wR="64911" stAng="16200000" swAng="-5400000"/>
                <a:lnTo>
                  <a:pt x="11289" y="2391657"/>
                </a:lnTo>
                <a:arcTo hR="76200" wR="64911" stAng="10800000" swAng="-5400000"/>
                <a:close/>
              </a:path>
            </a:pathLst>
          </a:custGeom>
          <a:solidFill>
            <a:srgbClr val="FAF9F5">
              <a:alpha val="22000"/>
            </a:srgbClr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3789" y="2160060"/>
          <a:ext cx="10270067" cy="2171524"/>
        </p:xfrm>
        <a:graphic>
          <a:graphicData uri="http://schemas.openxmlformats.org/drawingml/2006/table">
            <a:tbl>
              <a:tblPr/>
              <a:tblGrid>
                <a:gridCol w="3081020"/>
                <a:gridCol w="3697224"/>
                <a:gridCol w="3491823"/>
              </a:tblGrid>
              <a:tr h="384528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8A8F98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에이전트의 행동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24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24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8A8F98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무엇을 보는가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24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24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F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8A8F98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원래 누가 하던 일인가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24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24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F12"/>
                    </a:solidFill>
                  </a:tcPr>
                </a:tc>
              </a:tr>
              <a:tr h="384528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2F3F4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현황판을 읽는다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8A8F98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체크인이 임박한 객실, 아직 배정되지 않은 객실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8A8F98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관리자가 엑셀을 열어 확인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3413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2F3F4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직원을 파악한다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8A8F98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누가 어떤 객실을 빨리 끝내는지, 지금 몇 개를 맡고 있는지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8A8F98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관리자가 경험으로 기억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528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직접 배정한다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8A8F98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긴급도 · 숙련도 · 층 · 작업량을 함께 고려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8A8F98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관리자가 단톡방에 올림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528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BBF24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사람을 부른다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8A8F98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일손이 모자라거나 스스로 판단하지 못할 때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8A8F98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아무도 하지 않던 일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2800" y="4730927"/>
            <a:ext cx="719455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F2F3F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사람이 쓰던 기능을 그대로 쓴다. 누르는 주체만 사람에서 에이전트로 바뀐다.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995885" y="381000"/>
            <a:ext cx="3484815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roomly-plum-eight.vercel.app/api/demo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12800" y="6238258"/>
            <a:ext cx="142258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5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150" kern="0" dirty="0">
                <a:solidFill>
                  <a:srgbClr val="818CF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결과 검증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323271"/>
            <a:ext cx="1088339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2F3F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모델의 판단을 세 겹으로 검사한다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2063046"/>
            <a:ext cx="3393458" cy="2223382"/>
          </a:xfrm>
          <a:prstGeom prst="roundRect">
            <a:avLst>
              <a:gd name="adj" fmla="val 4427"/>
            </a:avLst>
          </a:prstGeom>
          <a:solidFill>
            <a:srgbClr val="17171B"/>
          </a:solidFill>
          <a:ln w="6350">
            <a:solidFill>
              <a:srgbClr val="2A2D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044" y="2294114"/>
            <a:ext cx="3019258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A8F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47044" y="2639482"/>
            <a:ext cx="3019258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F3F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구조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044" y="3028069"/>
            <a:ext cx="3019258" cy="537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모델이 지어낸 객실·직원 ID를 실제 목록과 대조해 거부한다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96758" y="2066221"/>
            <a:ext cx="3398485" cy="2217032"/>
          </a:xfrm>
          <a:prstGeom prst="roundRect">
            <a:avLst>
              <a:gd name="adj" fmla="val 4296"/>
            </a:avLst>
          </a:prstGeom>
          <a:solidFill>
            <a:srgbClr val="17171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0296" y="2299757"/>
            <a:ext cx="3019349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30296" y="2645128"/>
            <a:ext cx="3019349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F3F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규칙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30296" y="3033713"/>
            <a:ext cx="3019349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68275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체크인 임박 객실 누락</a:t>
            </a:r>
            <a:endParaRPr lang="en-US" sz="1250" dirty="0"/>
          </a:p>
          <a:p>
            <a:pPr algn="l" marL="190500" indent="-168275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한 객실을 두 명에게 배정</a:t>
            </a:r>
            <a:endParaRPr lang="en-US" sz="1250" dirty="0"/>
          </a:p>
          <a:p>
            <a:pPr algn="l" marL="190500" indent="-168275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한 직원에게 작업량 쏠림</a:t>
            </a:r>
            <a:endParaRPr lang="en-US" sz="1250" dirty="0"/>
          </a:p>
          <a:p>
            <a:pPr algn="l" marL="190500" indent="-168275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배정 가능한데 빈 계획 제출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82568" y="2063046"/>
            <a:ext cx="3393458" cy="2223382"/>
          </a:xfrm>
          <a:prstGeom prst="roundRect">
            <a:avLst>
              <a:gd name="adj" fmla="val 4427"/>
            </a:avLst>
          </a:prstGeom>
          <a:solidFill>
            <a:srgbClr val="17171B"/>
          </a:solidFill>
          <a:ln w="6350">
            <a:solidFill>
              <a:srgbClr val="2A2D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13637" y="2294114"/>
            <a:ext cx="3019258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A8F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13637" y="2639482"/>
            <a:ext cx="3019258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F3F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사후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13637" y="3028069"/>
            <a:ext cx="3019258" cy="537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배정할 때 예측 완료 시각을 남기고 실제 완료 시각과 대조한다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58"/>
            <a:ext cx="142258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5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84650" y="6238258"/>
            <a:ext cx="71945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검증 규칙 6종은 배포 전마다 자동으로 점검한다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995885" y="381000"/>
            <a:ext cx="3484815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roomly-plum-eight.vercel.app/api/demo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150" kern="0" dirty="0">
                <a:solidFill>
                  <a:srgbClr val="818CF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되먹임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97871"/>
            <a:ext cx="10883392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2F3F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위반을 예외로 던지지 않고</a:t>
            </a:r>
            <a:endParaRPr lang="en-US" sz="3000" dirty="0"/>
          </a:p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2F3F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문장으로 모델에게 돌려준다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2469446"/>
            <a:ext cx="5409495" cy="2877344"/>
          </a:xfrm>
          <a:prstGeom prst="roundRect">
            <a:avLst>
              <a:gd name="adj" fmla="val 3421"/>
            </a:avLst>
          </a:prstGeom>
          <a:solidFill>
            <a:srgbClr val="0E0F12"/>
          </a:solidFill>
          <a:ln w="6350">
            <a:solidFill>
              <a:srgbClr val="2A2D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044" y="2700514"/>
            <a:ext cx="5095776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F8717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거부 응답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7044" y="3040856"/>
            <a:ext cx="50957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2F3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405호는 체크인이 임박했는데 배정되지 않았습니다. 최우선으로 배정하세요.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47044" y="3675856"/>
            <a:ext cx="5095776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2F3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최준호에게 190분치가 몰렸습니다. 다른 직원에게 나누세요.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47044" y="4056856"/>
            <a:ext cx="509577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아무것도 실행되지 않았습니다. 위 사유를 반영해 계획을 고쳐 다시 호출하세요.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31845" y="2466271"/>
            <a:ext cx="5095776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2F3F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같은 대화 안에서 다시 계획한다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31845" y="2814197"/>
            <a:ext cx="5095776" cy="537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거부 사유가 그대로 되돌아가므로 모델이 무엇이 틀렸는지 읽고 스스로 고친다.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31845" y="3478302"/>
            <a:ext cx="5095776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2F3F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3회 거부되면 사람을 부른다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31845" y="3826228"/>
            <a:ext cx="5095776" cy="537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무한히 시도하지 않는다. 포기하고 관리자에게 푸시를 보낸 뒤 사이클을 끝낸다.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31845" y="4490334"/>
            <a:ext cx="5095776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2F3F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되돌린 흔적을 숨기지 않는다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31845" y="4838260"/>
            <a:ext cx="5095776" cy="537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거부 기록도 관리자 화면에 그대로 남는다. 어디까지 맡길지는 사람이 판단한다.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58"/>
            <a:ext cx="142258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5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7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95885" y="381000"/>
            <a:ext cx="3484815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roomly-plum-eight.vercel.app/api/demo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5E6A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546842"/>
            <a:ext cx="10883392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50" kern="0" dirty="0">
                <a:solidFill>
                  <a:srgbClr val="D6DAF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측정 결과 · 40객실 · 직원 4명 · 하루치 시나리오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2202126"/>
            <a:ext cx="5206238" cy="327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D6DAF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체크인 초과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12800" y="2871257"/>
            <a:ext cx="960349" cy="878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dirty="0">
                <a:solidFill>
                  <a:srgbClr val="B6BEF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3건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874749" y="3130903"/>
            <a:ext cx="342459" cy="523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D6DAF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318808" y="2605971"/>
            <a:ext cx="1642533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00"/>
              </a:lnSpc>
              <a:buNone/>
            </a:pPr>
            <a:r>
              <a:rPr lang="en-US" sz="84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0건</a:t>
            </a:r>
            <a:endParaRPr lang="en-US" sz="8400" dirty="0"/>
          </a:p>
        </p:txBody>
      </p:sp>
      <p:sp>
        <p:nvSpPr>
          <p:cNvPr id="7" name="Text 5"/>
          <p:cNvSpPr/>
          <p:nvPr/>
        </p:nvSpPr>
        <p:spPr>
          <a:xfrm>
            <a:off x="812800" y="3826228"/>
            <a:ext cx="520623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6DAF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청소가 끝나기 전에 손님이 도착하는 객실이 사라졌다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24600" y="2202126"/>
            <a:ext cx="5206238" cy="327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D6DAF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직원 부하 편차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24600" y="2871257"/>
            <a:ext cx="1673225" cy="17321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dirty="0">
                <a:solidFill>
                  <a:srgbClr val="B6BEF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419분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8099425" y="3130903"/>
            <a:ext cx="339108" cy="523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D6DAF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540133" y="2605971"/>
            <a:ext cx="2924239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00"/>
              </a:lnSpc>
              <a:buNone/>
            </a:pPr>
            <a:r>
              <a:rPr lang="en-US" sz="84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123분</a:t>
            </a:r>
            <a:endParaRPr lang="en-US" sz="8400" dirty="0"/>
          </a:p>
        </p:txBody>
      </p:sp>
      <p:sp>
        <p:nvSpPr>
          <p:cNvPr id="12" name="Text 10"/>
          <p:cNvSpPr/>
          <p:nvPr/>
        </p:nvSpPr>
        <p:spPr>
          <a:xfrm>
            <a:off x="6324600" y="4841168"/>
            <a:ext cx="520623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6DAF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가장 많이 일한 직원과 가장 적게 일한 직원의 차이, 71% 감소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61"/>
            <a:ext cx="142258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6BEF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22500" y="6238261"/>
            <a:ext cx="91567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6DAF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비교 대상은 체크인순 순환 배정(규칙 기반) · 실사용 데이터가 아닌 시드 시나리오 기반 시뮬레이션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995885" y="381000"/>
            <a:ext cx="3484815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5E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roomly-plum-eight.vercel.app/api/demo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150" kern="0" dirty="0">
                <a:solidFill>
                  <a:srgbClr val="818CF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왜 차이가 나는가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97868"/>
            <a:ext cx="10883392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2F3F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규칙 기반은 객실 소요 시간도</a:t>
            </a:r>
            <a:endParaRPr lang="en-US" sz="3000" dirty="0"/>
          </a:p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2F3F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직원 숙련도도 모른다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2466268"/>
            <a:ext cx="10566400" cy="1530350"/>
          </a:xfrm>
          <a:custGeom>
            <a:avLst/>
            <a:gdLst/>
            <a:ahLst/>
            <a:cxnLst/>
            <a:rect l="l" t="t" r="r" b="b"/>
            <a:pathLst>
              <a:path w="10566400" h="1530350">
                <a:moveTo>
                  <a:pt x="10490200" y="0"/>
                </a:moveTo>
                <a:lnTo>
                  <a:pt x="10490200" y="0"/>
                </a:lnTo>
                <a:arcTo hR="76200" wR="76200" stAng="16200000" swAng="5400000"/>
                <a:lnTo>
                  <a:pt x="10566400" y="1454150"/>
                </a:lnTo>
                <a:arcTo hR="76200" wR="76200" stAng="0" swAng="5400000"/>
                <a:lnTo>
                  <a:pt x="76200" y="1530350"/>
                </a:lnTo>
                <a:arcTo hR="76200" wR="76200" stAng="5400000" swAng="5400000"/>
                <a:lnTo>
                  <a:pt x="0" y="1454150"/>
                </a:lnTo>
                <a:arcTo hR="69850" wR="76200" stAng="10800000" swAng="-5400000"/>
                <a:lnTo>
                  <a:pt x="10490200" y="1524000"/>
                </a:lnTo>
                <a:arcTo hR="69850" wR="69850" stAng="5400000" swAng="-5400000"/>
                <a:lnTo>
                  <a:pt x="10560050" y="76200"/>
                </a:lnTo>
                <a:arcTo hR="76200" wR="69850" stAng="0" swAng="-5400000"/>
                <a:close/>
              </a:path>
            </a:pathLst>
          </a:custGeom>
          <a:solidFill>
            <a:srgbClr val="2A2D33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2466268"/>
            <a:ext cx="10566400" cy="1530350"/>
          </a:xfrm>
          <a:custGeom>
            <a:avLst/>
            <a:gdLst/>
            <a:ahLst/>
            <a:cxnLst/>
            <a:rect l="l" t="t" r="r" b="b"/>
            <a:pathLst>
              <a:path w="10566400" h="1530350">
                <a:moveTo>
                  <a:pt x="76200" y="1530350"/>
                </a:moveTo>
                <a:lnTo>
                  <a:pt x="76200" y="153035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10490200" y="0"/>
                </a:lnTo>
                <a:arcTo hR="76200" wR="76200" stAng="16200000" swAng="5400000"/>
                <a:lnTo>
                  <a:pt x="10566400" y="76200"/>
                </a:lnTo>
                <a:arcTo hR="64911" wR="76200" stAng="0" swAng="-5400000"/>
                <a:lnTo>
                  <a:pt x="76200" y="11289"/>
                </a:lnTo>
                <a:arcTo hR="64911" wR="64911" stAng="16200000" swAng="-5400000"/>
                <a:lnTo>
                  <a:pt x="11289" y="1454150"/>
                </a:lnTo>
                <a:arcTo hR="76200" wR="64911" stAng="10800000" swAng="-5400000"/>
                <a:close/>
              </a:path>
            </a:pathLst>
          </a:custGeom>
          <a:solidFill>
            <a:srgbClr val="FAF9F5">
              <a:alpha val="22000"/>
            </a:srgbClr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3789" y="2617257"/>
          <a:ext cx="10270067" cy="1234017"/>
        </p:xfrm>
        <a:graphic>
          <a:graphicData uri="http://schemas.openxmlformats.org/drawingml/2006/table">
            <a:tbl>
              <a:tblPr/>
              <a:tblGrid>
                <a:gridCol w="2875619"/>
                <a:gridCol w="1848612"/>
                <a:gridCol w="1848612"/>
                <a:gridCol w="1848612"/>
                <a:gridCol w="1848612"/>
              </a:tblGrid>
              <a:tr h="411339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8A8F98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하루 총 작업 시간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8A8F98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김민지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8A8F98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박서준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8A8F98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이하늘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8A8F98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정우성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B"/>
                    </a:solidFill>
                  </a:tcPr>
                </a:tc>
              </a:tr>
              <a:tr h="411339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8A8F98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규칙 기반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24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87171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494분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24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2F3F4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300분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24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2F3F4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226분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24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87171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75분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24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9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339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2F3F4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에이전트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24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353분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24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290분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24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249분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24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230분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24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24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24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24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15975" y="4253793"/>
            <a:ext cx="5175250" cy="936978"/>
          </a:xfrm>
          <a:prstGeom prst="roundRect">
            <a:avLst>
              <a:gd name="adj" fmla="val 9149"/>
            </a:avLst>
          </a:prstGeom>
          <a:solidFill>
            <a:srgbClr val="17171B"/>
          </a:solidFill>
          <a:ln w="6350">
            <a:solidFill>
              <a:srgbClr val="2A2D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8944" y="4446767"/>
            <a:ext cx="4932990" cy="5764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체크인순으로 돌리기만 하면 한 명이 494분 일하는 동안 다른 한 명은 75분만 일한다. </a:t>
            </a:r>
            <a:r>
              <a:rPr lang="en-US" sz="1400" b="1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6.6배</a:t>
            </a:r>
            <a:r>
              <a:rPr lang="en-US" sz="1400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차이.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00775" y="4253793"/>
            <a:ext cx="5175250" cy="936978"/>
          </a:xfrm>
          <a:prstGeom prst="roundRect">
            <a:avLst>
              <a:gd name="adj" fmla="val 9149"/>
            </a:avLst>
          </a:prstGeom>
          <a:solidFill>
            <a:srgbClr val="17171B"/>
          </a:solidFill>
          <a:ln w="6350">
            <a:solidFill>
              <a:srgbClr val="2A2D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93745" y="4446767"/>
            <a:ext cx="4932990" cy="5764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에이전트는 과거 실적과 객실 타입별 예상 시간을 함께 보고 </a:t>
            </a:r>
            <a:r>
              <a:rPr lang="en-US" sz="1400" b="1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1.5배 이내</a:t>
            </a:r>
            <a:r>
              <a:rPr lang="en-US" sz="1400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로 맞춘다.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12800" y="6238261"/>
            <a:ext cx="142258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5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95885" y="381000"/>
            <a:ext cx="3484815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roomly-plum-eight.vercel.app/api/demo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150" kern="0" dirty="0">
                <a:solidFill>
                  <a:srgbClr val="818CF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실제 실행 기록 · 2026-09-26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72468"/>
            <a:ext cx="1088339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2F3F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판단 근거가 화면에 남는다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961443"/>
            <a:ext cx="10560050" cy="2030589"/>
          </a:xfrm>
          <a:prstGeom prst="roundRect">
            <a:avLst>
              <a:gd name="adj" fmla="val 4847"/>
            </a:avLst>
          </a:prstGeom>
          <a:solidFill>
            <a:srgbClr val="0E0F12"/>
          </a:solidFill>
          <a:ln w="6350">
            <a:solidFill>
              <a:srgbClr val="2A2D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2444" y="2192517"/>
            <a:ext cx="939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A4F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14:43:20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113844" y="2192517"/>
            <a:ext cx="431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관찰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647244" y="2192517"/>
            <a:ext cx="87264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현황판 조회 — 배정 대상 6개 (더티 6, 청소중 5, 완료 34)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72444" y="2529067"/>
            <a:ext cx="939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A4F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14:43:33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113844" y="2529067"/>
            <a:ext cx="431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배정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647244" y="2529067"/>
            <a:ext cx="87264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2F3F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104호 → 이하늘 · 체크인 16:05 (가장 빠름), 싱글 객실 최소 시간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72444" y="2865617"/>
            <a:ext cx="939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A4F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14:43:34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113844" y="2865617"/>
            <a:ext cx="431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배정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647244" y="2865617"/>
            <a:ext cx="87264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2F3F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301호 → 이하늘 · 45분 무거운 객실은 </a:t>
            </a:r>
            <a:r>
              <a:rPr lang="en-US" sz="1250" b="1" dirty="0">
                <a:solidFill>
                  <a:srgbClr val="F2F3F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평균 가장 빠른 직원(22분)</a:t>
            </a:r>
            <a:r>
              <a:rPr lang="en-US" sz="1250" dirty="0">
                <a:solidFill>
                  <a:srgbClr val="F2F3F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에게 배정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72444" y="3202167"/>
            <a:ext cx="939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A4F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14:43:36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113844" y="3202167"/>
            <a:ext cx="431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배정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647244" y="3202167"/>
            <a:ext cx="87264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2F3F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201호 → 김다정 · 45분 무거운 객실은 </a:t>
            </a:r>
            <a:r>
              <a:rPr lang="en-US" sz="1250" b="1" dirty="0">
                <a:solidFill>
                  <a:srgbClr val="F2F3F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두 번째로 빠른 직원(26분)</a:t>
            </a:r>
            <a:r>
              <a:rPr lang="en-US" sz="1250" dirty="0">
                <a:solidFill>
                  <a:srgbClr val="F2F3F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에게 배정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72444" y="3538717"/>
            <a:ext cx="939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A4F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14:43:37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113844" y="3538717"/>
            <a:ext cx="431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배정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647244" y="3538717"/>
            <a:ext cx="87264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2F3F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105호 → 박서준 · </a:t>
            </a:r>
            <a:r>
              <a:rPr lang="en-US" sz="1250" b="1" dirty="0">
                <a:solidFill>
                  <a:srgbClr val="F2F3F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1층 104호 담당 직원이 바쁘므로</a:t>
            </a:r>
            <a:r>
              <a:rPr lang="en-US" sz="1250" dirty="0">
                <a:solidFill>
                  <a:srgbClr val="F2F3F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박서준에게 배정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12800" y="4223810"/>
            <a:ext cx="719455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2F3F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모델이 실제 숫자를 인용해 설명한다. 관리자가 읽고 판단할 수 있다.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61"/>
            <a:ext cx="233715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5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95885" y="381000"/>
            <a:ext cx="3484815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roomly-plum-eight.vercel.app/api/demo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150" kern="0" dirty="0">
                <a:solidFill>
                  <a:srgbClr val="818CF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구현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323268"/>
            <a:ext cx="1088339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2F3F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이미 돌아가는 서비스 위에 얹었다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2063043"/>
            <a:ext cx="5182306" cy="1997075"/>
          </a:xfrm>
          <a:prstGeom prst="roundRect">
            <a:avLst>
              <a:gd name="adj" fmla="val 4928"/>
            </a:avLst>
          </a:prstGeom>
          <a:solidFill>
            <a:srgbClr val="17171B"/>
          </a:solidFill>
          <a:ln w="6350">
            <a:solidFill>
              <a:srgbClr val="2A2D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044" y="2294117"/>
            <a:ext cx="4861772" cy="269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2026년 6월부터 있던 것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47044" y="2652185"/>
            <a:ext cx="4861772" cy="5910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350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실시간 현황판 · 드래그 배정 · QR 직원 인증 · 푸시 알림 · 한국어 / 영어 / 베트남어 · iOS · Android · 결제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85606" y="2066218"/>
            <a:ext cx="5187245" cy="1990725"/>
          </a:xfrm>
          <a:prstGeom prst="roundRect">
            <a:avLst>
              <a:gd name="adj" fmla="val 4785"/>
            </a:avLst>
          </a:prstGeom>
          <a:solidFill>
            <a:srgbClr val="17171B"/>
          </a:solidFill>
          <a:ln w="12700">
            <a:solidFill>
              <a:srgbClr val="5E6A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19145" y="2299760"/>
            <a:ext cx="4861772" cy="269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5E6AD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이번에 더한 것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19145" y="2657828"/>
            <a:ext cx="4861772" cy="1190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5740" indent="-175387">
              <a:lnSpc>
                <a:spcPts val="2295"/>
              </a:lnSpc>
              <a:buSzPct val="100000"/>
              <a:buChar char="•"/>
            </a:pPr>
            <a:r>
              <a:rPr lang="en-US" sz="1350" dirty="0">
                <a:solidFill>
                  <a:srgbClr val="F2F3F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스스로 현황을 읽는다</a:t>
            </a:r>
            <a:endParaRPr lang="en-US" sz="1350" dirty="0"/>
          </a:p>
          <a:p>
            <a:pPr algn="l" marL="205740" indent="-175387">
              <a:lnSpc>
                <a:spcPts val="2295"/>
              </a:lnSpc>
              <a:buSzPct val="100000"/>
              <a:buChar char="•"/>
            </a:pPr>
            <a:r>
              <a:rPr lang="en-US" sz="1350" dirty="0">
                <a:solidFill>
                  <a:srgbClr val="F2F3F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스스로 배정하고 알린다</a:t>
            </a:r>
            <a:endParaRPr lang="en-US" sz="1350" dirty="0"/>
          </a:p>
          <a:p>
            <a:pPr algn="l" marL="205740" indent="-175387">
              <a:lnSpc>
                <a:spcPts val="2295"/>
              </a:lnSpc>
              <a:buSzPct val="100000"/>
              <a:buChar char="•"/>
            </a:pPr>
            <a:r>
              <a:rPr lang="en-US" sz="1350" dirty="0">
                <a:solidFill>
                  <a:srgbClr val="F2F3F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스스로 검증하고 되돌린다</a:t>
            </a:r>
            <a:endParaRPr lang="en-US" sz="1350" dirty="0"/>
          </a:p>
          <a:p>
            <a:pPr algn="l" marL="205740" indent="-175387">
              <a:lnSpc>
                <a:spcPts val="2295"/>
              </a:lnSpc>
              <a:buSzPct val="100000"/>
              <a:buChar char="•"/>
            </a:pPr>
            <a:r>
              <a:rPr lang="en-US" sz="1350" dirty="0">
                <a:solidFill>
                  <a:srgbClr val="F2F3F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못 하면 사람을 부른다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5975" y="4345868"/>
            <a:ext cx="5187950" cy="1257124"/>
          </a:xfrm>
          <a:prstGeom prst="roundRect">
            <a:avLst>
              <a:gd name="adj" fmla="val 7829"/>
            </a:avLst>
          </a:prstGeom>
          <a:solidFill>
            <a:srgbClr val="17171B"/>
          </a:solidFill>
          <a:ln w="6350">
            <a:solidFill>
              <a:srgbClr val="2A2D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1644" y="4551542"/>
            <a:ext cx="491990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2F3F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현장에서 쓰이려면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21644" y="4869042"/>
            <a:ext cx="4919909" cy="553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직원은 앱을 설치하지 않는다. QR 한 번으로 들어오고, 일일 알바는 당일 만료 코드를 쓴다.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88075" y="4345868"/>
            <a:ext cx="5187950" cy="1257124"/>
          </a:xfrm>
          <a:prstGeom prst="roundRect">
            <a:avLst>
              <a:gd name="adj" fmla="val 7829"/>
            </a:avLst>
          </a:prstGeom>
          <a:solidFill>
            <a:srgbClr val="17171B"/>
          </a:solidFill>
          <a:ln w="6350">
            <a:solidFill>
              <a:srgbClr val="2A2D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93745" y="4551542"/>
            <a:ext cx="491990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2F3F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호텔마다 격리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93745" y="4869042"/>
            <a:ext cx="4919909" cy="553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한 호텔의 에이전트는 그 호텔의 객실과 직원만 본다. 데이터베이스 단에서 막는다.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995885" y="381000"/>
            <a:ext cx="3484815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roomly-plum-eight.vercel.app/api/demo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61"/>
            <a:ext cx="233715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5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150" kern="0" dirty="0">
                <a:solidFill>
                  <a:srgbClr val="818CF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확인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21668"/>
            <a:ext cx="1088339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2F3F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링크 하나로 직접 돌려볼 수 있다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3466393"/>
            <a:ext cx="10553700" cy="1547724"/>
          </a:xfrm>
          <a:prstGeom prst="roundRect">
            <a:avLst>
              <a:gd name="adj" fmla="val 6975"/>
            </a:avLst>
          </a:prstGeom>
          <a:solidFill>
            <a:srgbClr val="17171B"/>
          </a:solidFill>
          <a:ln w="12700">
            <a:solidFill>
              <a:srgbClr val="5E6A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89" y="3725335"/>
            <a:ext cx="10336897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데모 — 관리자 화면으로 바로 입장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78089" y="4045303"/>
            <a:ext cx="10336897" cy="39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5E6AD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roomly-plum-eight.vercel.app/api/demo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78089" y="4507533"/>
            <a:ext cx="1033689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상단 </a:t>
            </a:r>
            <a:r>
              <a:rPr lang="en-US" sz="1300" b="1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에이전트</a:t>
            </a:r>
            <a:r>
              <a:rPr lang="en-US" sz="1300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→ </a:t>
            </a:r>
            <a:r>
              <a:rPr lang="en-US" sz="1300" b="1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체크아웃 발생</a:t>
            </a:r>
            <a:r>
              <a:rPr lang="en-US" sz="1300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→ </a:t>
            </a:r>
            <a:r>
              <a:rPr lang="en-US" sz="1300" b="1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 실행</a:t>
            </a:r>
            <a:r>
              <a:rPr lang="en-US" sz="1300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순서로 누르면 판단 과정이 실시간으로 쌓인다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15975" y="5150644"/>
            <a:ext cx="5213350" cy="891381"/>
          </a:xfrm>
          <a:prstGeom prst="roundRect">
            <a:avLst>
              <a:gd name="adj" fmla="val 9617"/>
            </a:avLst>
          </a:prstGeom>
          <a:solidFill>
            <a:srgbClr val="17171B"/>
          </a:solidFill>
          <a:ln w="6350">
            <a:solidFill>
              <a:srgbClr val="2A2D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6244" y="5330912"/>
            <a:ext cx="4998395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소스 코드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96244" y="5595057"/>
            <a:ext cx="499839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2F3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github.com/kimhwanjin917/Roomly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62675" y="5150644"/>
            <a:ext cx="5213350" cy="891381"/>
          </a:xfrm>
          <a:prstGeom prst="roundRect">
            <a:avLst>
              <a:gd name="adj" fmla="val 9617"/>
            </a:avLst>
          </a:prstGeom>
          <a:solidFill>
            <a:srgbClr val="17171B"/>
          </a:solidFill>
          <a:ln w="6350">
            <a:solidFill>
              <a:srgbClr val="2A2D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42945" y="5330912"/>
            <a:ext cx="4998395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기획 문서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42945" y="5595057"/>
            <a:ext cx="499839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2F3F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문제 정의부터 검증 설계까지 전 과정 기록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Roomly — 하우스키핑 에이전트</dc:title>
  <dc:subject>PptxGenJS Presentation</dc:subject>
  <dc:creator>PptxGenJS</dc:creator>
  <cp:lastModifiedBy>PptxGenJS</cp:lastModifiedBy>
  <cp:revision>1</cp:revision>
  <dcterms:created xsi:type="dcterms:W3CDTF">2026-09-27T00:41:06Z</dcterms:created>
  <dcterms:modified xsi:type="dcterms:W3CDTF">2026-09-27T00:41:06Z</dcterms:modified>
</cp:coreProperties>
</file>